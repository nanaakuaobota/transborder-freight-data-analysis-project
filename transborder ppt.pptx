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8" r:id="rId7"/>
    <p:sldId id="266" r:id="rId8"/>
    <p:sldId id="262" r:id="rId9"/>
    <p:sldId id="261" r:id="rId10"/>
    <p:sldId id="264" r:id="rId11"/>
    <p:sldId id="269" r:id="rId12"/>
    <p:sldId id="265" r:id="rId13"/>
  </p:sldIdLst>
  <p:sldSz cx="18288000" cy="10287000"/>
  <p:notesSz cx="6858000" cy="9144000"/>
  <p:embeddedFontLst>
    <p:embeddedFont>
      <p:font typeface="Anton" pitchFamily="2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Montserrat Italics" panose="020B0604020202020204" charset="0"/>
      <p:regular r:id="rId19"/>
    </p:embeddedFont>
    <p:embeddedFont>
      <p:font typeface="Montserrat Medium" panose="00000600000000000000" pitchFamily="2" charset="0"/>
      <p:regular r:id="rId20"/>
      <p: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75" autoAdjust="0"/>
    <p:restoredTop sz="94622" autoAdjust="0"/>
  </p:normalViewPr>
  <p:slideViewPr>
    <p:cSldViewPr>
      <p:cViewPr varScale="1">
        <p:scale>
          <a:sx n="45" d="100"/>
          <a:sy n="45" d="100"/>
        </p:scale>
        <p:origin x="752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7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30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>
            <a:off x="-2591396" y="-415522"/>
            <a:ext cx="12279836" cy="12279836"/>
          </a:xfrm>
          <a:custGeom>
            <a:avLst/>
            <a:gdLst/>
            <a:ahLst/>
            <a:cxnLst/>
            <a:rect l="l" t="t" r="r" b="b"/>
            <a:pathLst>
              <a:path w="12279836" h="12279836">
                <a:moveTo>
                  <a:pt x="0" y="0"/>
                </a:moveTo>
                <a:lnTo>
                  <a:pt x="12279836" y="0"/>
                </a:lnTo>
                <a:lnTo>
                  <a:pt x="12279836" y="12279837"/>
                </a:lnTo>
                <a:lnTo>
                  <a:pt x="0" y="12279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2896098" y="-185210"/>
            <a:ext cx="12603491" cy="12328506"/>
          </a:xfrm>
          <a:custGeom>
            <a:avLst/>
            <a:gdLst/>
            <a:ahLst/>
            <a:cxnLst/>
            <a:rect l="l" t="t" r="r" b="b"/>
            <a:pathLst>
              <a:path w="12603491" h="12328506">
                <a:moveTo>
                  <a:pt x="0" y="0"/>
                </a:moveTo>
                <a:lnTo>
                  <a:pt x="12603491" y="0"/>
                </a:lnTo>
                <a:lnTo>
                  <a:pt x="12603491" y="12328506"/>
                </a:lnTo>
                <a:lnTo>
                  <a:pt x="0" y="123285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-2591396" y="312331"/>
            <a:ext cx="11551983" cy="1155198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45862" r="-4231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7" name="Freeform 7"/>
          <p:cNvSpPr/>
          <p:nvPr/>
        </p:nvSpPr>
        <p:spPr>
          <a:xfrm>
            <a:off x="16577411" y="8576411"/>
            <a:ext cx="681889" cy="681889"/>
          </a:xfrm>
          <a:custGeom>
            <a:avLst/>
            <a:gdLst/>
            <a:ahLst/>
            <a:cxnLst/>
            <a:rect l="l" t="t" r="r" b="b"/>
            <a:pathLst>
              <a:path w="681889" h="681889">
                <a:moveTo>
                  <a:pt x="0" y="0"/>
                </a:moveTo>
                <a:lnTo>
                  <a:pt x="681889" y="0"/>
                </a:lnTo>
                <a:lnTo>
                  <a:pt x="681889" y="681889"/>
                </a:lnTo>
                <a:lnTo>
                  <a:pt x="0" y="6818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539603" y="1028700"/>
            <a:ext cx="845590" cy="624012"/>
          </a:xfrm>
          <a:custGeom>
            <a:avLst/>
            <a:gdLst/>
            <a:ahLst/>
            <a:cxnLst/>
            <a:rect l="l" t="t" r="r" b="b"/>
            <a:pathLst>
              <a:path w="845590" h="624012">
                <a:moveTo>
                  <a:pt x="0" y="0"/>
                </a:moveTo>
                <a:lnTo>
                  <a:pt x="845590" y="0"/>
                </a:lnTo>
                <a:lnTo>
                  <a:pt x="845590" y="624012"/>
                </a:lnTo>
                <a:lnTo>
                  <a:pt x="0" y="62401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21967C-C18C-4F5F-9A73-508707FAE329}"/>
              </a:ext>
            </a:extLst>
          </p:cNvPr>
          <p:cNvSpPr txBox="1"/>
          <p:nvPr/>
        </p:nvSpPr>
        <p:spPr>
          <a:xfrm>
            <a:off x="11155680" y="4820334"/>
            <a:ext cx="61341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tx2"/>
                </a:solidFill>
                <a:latin typeface="Anton" pitchFamily="2" charset="0"/>
              </a:rPr>
              <a:t>TRANSBORDER FREIGHT </a:t>
            </a:r>
          </a:p>
          <a:p>
            <a:pPr algn="ctr"/>
            <a:r>
              <a:rPr lang="en-US" sz="5400" dirty="0">
                <a:solidFill>
                  <a:schemeClr val="accent6">
                    <a:lumMod val="75000"/>
                  </a:schemeClr>
                </a:solidFill>
                <a:latin typeface="Anton" pitchFamily="2" charset="0"/>
              </a:rPr>
              <a:t>ANALYSIS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DA78AE-B5E6-48C0-9EA0-DF70707C0D9B}"/>
              </a:ext>
            </a:extLst>
          </p:cNvPr>
          <p:cNvSpPr txBox="1"/>
          <p:nvPr/>
        </p:nvSpPr>
        <p:spPr>
          <a:xfrm>
            <a:off x="11155679" y="7504535"/>
            <a:ext cx="542173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Data-Driven Review of U.S. Trade with Canada &amp; Mexico</a:t>
            </a:r>
          </a:p>
          <a:p>
            <a:pPr algn="ctr"/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 algn="ctr"/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Barbara Addo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0620"/>
    </mc:Choice>
    <mc:Fallback xmlns="">
      <p:transition advTm="1062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694352" y="-1694352"/>
            <a:ext cx="3980781" cy="3980781"/>
            <a:chOff x="0" y="0"/>
            <a:chExt cx="5307708" cy="53077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07708" cy="5307708"/>
            </a:xfrm>
            <a:custGeom>
              <a:avLst/>
              <a:gdLst/>
              <a:ahLst/>
              <a:cxnLst/>
              <a:rect l="l" t="t" r="r" b="b"/>
              <a:pathLst>
                <a:path w="5307708" h="5307708">
                  <a:moveTo>
                    <a:pt x="0" y="0"/>
                  </a:moveTo>
                  <a:lnTo>
                    <a:pt x="5307708" y="0"/>
                  </a:lnTo>
                  <a:lnTo>
                    <a:pt x="5307708" y="5307708"/>
                  </a:lnTo>
                  <a:lnTo>
                    <a:pt x="0" y="53077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4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757795" y="757795"/>
              <a:ext cx="3792117" cy="3792117"/>
              <a:chOff x="0" y="0"/>
              <a:chExt cx="812800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5E13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86"/>
                  </a:lnSpc>
                </a:pPr>
                <a:endParaRPr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>
            <a:off x="14313992" y="-176204"/>
            <a:ext cx="3974008" cy="10639407"/>
            <a:chOff x="0" y="0"/>
            <a:chExt cx="1046652" cy="280214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46652" cy="2802148"/>
            </a:xfrm>
            <a:custGeom>
              <a:avLst/>
              <a:gdLst/>
              <a:ahLst/>
              <a:cxnLst/>
              <a:rect l="l" t="t" r="r" b="b"/>
              <a:pathLst>
                <a:path w="1046652" h="2802148">
                  <a:moveTo>
                    <a:pt x="0" y="0"/>
                  </a:moveTo>
                  <a:lnTo>
                    <a:pt x="1046652" y="0"/>
                  </a:lnTo>
                  <a:lnTo>
                    <a:pt x="1046652" y="2802148"/>
                  </a:lnTo>
                  <a:lnTo>
                    <a:pt x="0" y="2802148"/>
                  </a:lnTo>
                  <a:close/>
                </a:path>
              </a:pathLst>
            </a:custGeom>
            <a:solidFill>
              <a:srgbClr val="FF5E13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046652" cy="28497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86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0" y="1028700"/>
            <a:ext cx="8115300" cy="8229600"/>
            <a:chOff x="0" y="0"/>
            <a:chExt cx="1257272" cy="12749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57272" cy="1274980"/>
            </a:xfrm>
            <a:custGeom>
              <a:avLst/>
              <a:gdLst/>
              <a:ahLst/>
              <a:cxnLst/>
              <a:rect l="l" t="t" r="r" b="b"/>
              <a:pathLst>
                <a:path w="1257272" h="1274980">
                  <a:moveTo>
                    <a:pt x="0" y="0"/>
                  </a:moveTo>
                  <a:lnTo>
                    <a:pt x="1257272" y="0"/>
                  </a:lnTo>
                  <a:lnTo>
                    <a:pt x="1257272" y="1274980"/>
                  </a:lnTo>
                  <a:lnTo>
                    <a:pt x="0" y="1274980"/>
                  </a:lnTo>
                  <a:close/>
                </a:path>
              </a:pathLst>
            </a:custGeom>
            <a:blipFill>
              <a:blip r:embed="rId4"/>
              <a:stretch>
                <a:fillRect t="-19607" b="-19607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2286429" y="8882499"/>
            <a:ext cx="3588675" cy="3562576"/>
          </a:xfrm>
          <a:custGeom>
            <a:avLst/>
            <a:gdLst/>
            <a:ahLst/>
            <a:cxnLst/>
            <a:rect l="l" t="t" r="r" b="b"/>
            <a:pathLst>
              <a:path w="3588675" h="3562576">
                <a:moveTo>
                  <a:pt x="0" y="0"/>
                </a:moveTo>
                <a:lnTo>
                  <a:pt x="3588675" y="0"/>
                </a:lnTo>
                <a:lnTo>
                  <a:pt x="3588675" y="3562576"/>
                </a:lnTo>
                <a:lnTo>
                  <a:pt x="0" y="35625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292512" y="-1957491"/>
            <a:ext cx="3588675" cy="3562576"/>
          </a:xfrm>
          <a:custGeom>
            <a:avLst/>
            <a:gdLst/>
            <a:ahLst/>
            <a:cxnLst/>
            <a:rect l="l" t="t" r="r" b="b"/>
            <a:pathLst>
              <a:path w="3588675" h="3562576">
                <a:moveTo>
                  <a:pt x="0" y="0"/>
                </a:moveTo>
                <a:lnTo>
                  <a:pt x="3588676" y="0"/>
                </a:lnTo>
                <a:lnTo>
                  <a:pt x="3588676" y="3562575"/>
                </a:lnTo>
                <a:lnTo>
                  <a:pt x="0" y="35625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352894" y="506218"/>
            <a:ext cx="752006" cy="398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7"/>
              </a:lnSpc>
              <a:spcBef>
                <a:spcPct val="0"/>
              </a:spcBef>
            </a:pPr>
            <a:r>
              <a:rPr lang="en-US" sz="2355" i="1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04900" y="2872937"/>
            <a:ext cx="5725541" cy="1266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72"/>
              </a:lnSpc>
              <a:spcBef>
                <a:spcPct val="0"/>
              </a:spcBef>
            </a:pPr>
            <a:r>
              <a:rPr lang="en-US" sz="7480" dirty="0">
                <a:solidFill>
                  <a:srgbClr val="FF5E13"/>
                </a:solidFill>
                <a:latin typeface="Anton"/>
                <a:ea typeface="Anton"/>
                <a:cs typeface="Anton"/>
                <a:sym typeface="Anton"/>
              </a:rPr>
              <a:t>Introduction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4681919"/>
            <a:ext cx="6807947" cy="2585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 systems are the backbone of modern economies, enabling trade, mobility, and connectivity across borders. However as transportation systems expand, they face increasing challenges, from congestion to environmental sustainability.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694352" y="-1694352"/>
            <a:ext cx="3980781" cy="3980781"/>
            <a:chOff x="0" y="0"/>
            <a:chExt cx="5307708" cy="530770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07708" cy="5307708"/>
            </a:xfrm>
            <a:custGeom>
              <a:avLst/>
              <a:gdLst/>
              <a:ahLst/>
              <a:cxnLst/>
              <a:rect l="l" t="t" r="r" b="b"/>
              <a:pathLst>
                <a:path w="5307708" h="5307708">
                  <a:moveTo>
                    <a:pt x="0" y="0"/>
                  </a:moveTo>
                  <a:lnTo>
                    <a:pt x="5307708" y="0"/>
                  </a:lnTo>
                  <a:lnTo>
                    <a:pt x="5307708" y="5307708"/>
                  </a:lnTo>
                  <a:lnTo>
                    <a:pt x="0" y="53077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4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5" name="Group 5"/>
            <p:cNvGrpSpPr/>
            <p:nvPr/>
          </p:nvGrpSpPr>
          <p:grpSpPr>
            <a:xfrm>
              <a:off x="757795" y="757795"/>
              <a:ext cx="3792117" cy="3792117"/>
              <a:chOff x="0" y="0"/>
              <a:chExt cx="812800" cy="8128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5E13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86"/>
                  </a:lnSpc>
                </a:pPr>
                <a:endParaRPr/>
              </a:p>
            </p:txBody>
          </p:sp>
        </p:grpSp>
      </p:grpSp>
      <p:grpSp>
        <p:nvGrpSpPr>
          <p:cNvPr id="8" name="Group 8"/>
          <p:cNvGrpSpPr/>
          <p:nvPr/>
        </p:nvGrpSpPr>
        <p:grpSpPr>
          <a:xfrm>
            <a:off x="-271277" y="4581987"/>
            <a:ext cx="18559277" cy="5881217"/>
            <a:chOff x="0" y="0"/>
            <a:chExt cx="4888040" cy="154896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88040" cy="1548962"/>
            </a:xfrm>
            <a:custGeom>
              <a:avLst/>
              <a:gdLst/>
              <a:ahLst/>
              <a:cxnLst/>
              <a:rect l="l" t="t" r="r" b="b"/>
              <a:pathLst>
                <a:path w="4888040" h="1548962">
                  <a:moveTo>
                    <a:pt x="0" y="0"/>
                  </a:moveTo>
                  <a:lnTo>
                    <a:pt x="4888040" y="0"/>
                  </a:lnTo>
                  <a:lnTo>
                    <a:pt x="4888040" y="1548962"/>
                  </a:lnTo>
                  <a:lnTo>
                    <a:pt x="0" y="1548962"/>
                  </a:lnTo>
                  <a:close/>
                </a:path>
              </a:pathLst>
            </a:custGeom>
            <a:solidFill>
              <a:srgbClr val="FF5E1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888040" cy="15965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86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028926" y="3086757"/>
            <a:ext cx="4230374" cy="3939385"/>
            <a:chOff x="0" y="0"/>
            <a:chExt cx="1369159" cy="127498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369159" cy="1274980"/>
            </a:xfrm>
            <a:custGeom>
              <a:avLst/>
              <a:gdLst/>
              <a:ahLst/>
              <a:cxnLst/>
              <a:rect l="l" t="t" r="r" b="b"/>
              <a:pathLst>
                <a:path w="1369159" h="1274980">
                  <a:moveTo>
                    <a:pt x="0" y="0"/>
                  </a:moveTo>
                  <a:lnTo>
                    <a:pt x="1369159" y="0"/>
                  </a:lnTo>
                  <a:lnTo>
                    <a:pt x="1369159" y="1274980"/>
                  </a:lnTo>
                  <a:lnTo>
                    <a:pt x="0" y="1274980"/>
                  </a:lnTo>
                  <a:close/>
                </a:path>
              </a:pathLst>
            </a:custGeom>
            <a:blipFill>
              <a:blip r:embed="rId5"/>
              <a:stretch>
                <a:fillRect l="-19841" r="-19841"/>
              </a:stretch>
            </a:blipFill>
          </p:spPr>
        </p:sp>
      </p:grpSp>
      <p:sp>
        <p:nvSpPr>
          <p:cNvPr id="26" name="TextBox 26"/>
          <p:cNvSpPr txBox="1"/>
          <p:nvPr/>
        </p:nvSpPr>
        <p:spPr>
          <a:xfrm>
            <a:off x="352894" y="506218"/>
            <a:ext cx="752006" cy="398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7"/>
              </a:lnSpc>
              <a:spcBef>
                <a:spcPct val="0"/>
              </a:spcBef>
            </a:pPr>
            <a:r>
              <a:rPr lang="en-US" sz="2355" i="1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03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533759" y="895350"/>
            <a:ext cx="5725541" cy="126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472"/>
              </a:lnSpc>
              <a:spcBef>
                <a:spcPct val="0"/>
              </a:spcBef>
            </a:pPr>
            <a:r>
              <a:rPr lang="en-US" sz="7480" dirty="0">
                <a:solidFill>
                  <a:srgbClr val="FF5E13"/>
                </a:solidFill>
                <a:latin typeface="Anton"/>
                <a:ea typeface="Anton"/>
                <a:cs typeface="Anton"/>
                <a:sym typeface="Anton"/>
              </a:rPr>
              <a:t>Objectives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63333" y="7745809"/>
            <a:ext cx="3607357" cy="1436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9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transborder freight movement between the U.S., Canada, and Mexico (2020–2024).</a:t>
            </a:r>
            <a:endParaRPr lang="en-US" sz="2130" b="1" dirty="0">
              <a:solidFill>
                <a:schemeClr val="bg1"/>
              </a:solidFill>
              <a:latin typeface="Times New Roman" panose="02020603050405020304" pitchFamily="18" charset="0"/>
              <a:ea typeface="Montserrat Medium"/>
              <a:cs typeface="Times New Roman" panose="02020603050405020304" pitchFamily="18" charset="0"/>
              <a:sym typeface="Montserrat Medium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7340321" y="7974262"/>
            <a:ext cx="3607357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9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regional inefficiencies and modal differences.</a:t>
            </a:r>
            <a:endParaRPr lang="en-US" sz="2130" b="1" dirty="0">
              <a:solidFill>
                <a:schemeClr val="bg1"/>
              </a:solidFill>
              <a:latin typeface="Times New Roman" panose="02020603050405020304" pitchFamily="18" charset="0"/>
              <a:ea typeface="Montserrat Medium"/>
              <a:cs typeface="Times New Roman" panose="02020603050405020304" pitchFamily="18" charset="0"/>
              <a:sym typeface="Montserrat Medium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3340434" y="7974262"/>
            <a:ext cx="3607357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9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 environmental impacts by transportation mode</a:t>
            </a:r>
            <a:endParaRPr lang="en-US" sz="2130" b="1" dirty="0">
              <a:solidFill>
                <a:schemeClr val="bg1"/>
              </a:solidFill>
              <a:latin typeface="Times New Roman" panose="02020603050405020304" pitchFamily="18" charset="0"/>
              <a:ea typeface="Montserrat Medium"/>
              <a:cs typeface="Times New Roman" panose="02020603050405020304" pitchFamily="18" charset="0"/>
              <a:sym typeface="Montserrat Medium"/>
            </a:endParaRPr>
          </a:p>
        </p:txBody>
      </p:sp>
      <p:grpSp>
        <p:nvGrpSpPr>
          <p:cNvPr id="34" name="Group 11">
            <a:extLst>
              <a:ext uri="{FF2B5EF4-FFF2-40B4-BE49-F238E27FC236}">
                <a16:creationId xmlns:a16="http://schemas.microsoft.com/office/drawing/2014/main" id="{6BF89DF5-54F9-43BC-9D3E-C8909690659D}"/>
              </a:ext>
            </a:extLst>
          </p:cNvPr>
          <p:cNvGrpSpPr/>
          <p:nvPr/>
        </p:nvGrpSpPr>
        <p:grpSpPr>
          <a:xfrm>
            <a:off x="7086985" y="3086757"/>
            <a:ext cx="4230374" cy="3939385"/>
            <a:chOff x="0" y="0"/>
            <a:chExt cx="1369159" cy="1274980"/>
          </a:xfrm>
        </p:grpSpPr>
        <p:sp>
          <p:nvSpPr>
            <p:cNvPr id="35" name="Freeform 12">
              <a:extLst>
                <a:ext uri="{FF2B5EF4-FFF2-40B4-BE49-F238E27FC236}">
                  <a16:creationId xmlns:a16="http://schemas.microsoft.com/office/drawing/2014/main" id="{01FA7BCE-6D8C-4479-9F59-7A698A18448D}"/>
                </a:ext>
              </a:extLst>
            </p:cNvPr>
            <p:cNvSpPr/>
            <p:nvPr/>
          </p:nvSpPr>
          <p:spPr>
            <a:xfrm>
              <a:off x="0" y="0"/>
              <a:ext cx="1369159" cy="1274980"/>
            </a:xfrm>
            <a:custGeom>
              <a:avLst/>
              <a:gdLst/>
              <a:ahLst/>
              <a:cxnLst/>
              <a:rect l="l" t="t" r="r" b="b"/>
              <a:pathLst>
                <a:path w="1369159" h="1274980">
                  <a:moveTo>
                    <a:pt x="0" y="0"/>
                  </a:moveTo>
                  <a:lnTo>
                    <a:pt x="1369159" y="0"/>
                  </a:lnTo>
                  <a:lnTo>
                    <a:pt x="1369159" y="1274980"/>
                  </a:lnTo>
                  <a:lnTo>
                    <a:pt x="0" y="1274980"/>
                  </a:lnTo>
                  <a:close/>
                </a:path>
              </a:pathLst>
            </a:custGeom>
            <a:blipFill>
              <a:blip r:embed="rId6"/>
              <a:stretch>
                <a:fillRect l="-65794"/>
              </a:stretch>
            </a:blipFill>
          </p:spPr>
        </p:sp>
      </p:grpSp>
      <p:grpSp>
        <p:nvGrpSpPr>
          <p:cNvPr id="36" name="Group 16">
            <a:extLst>
              <a:ext uri="{FF2B5EF4-FFF2-40B4-BE49-F238E27FC236}">
                <a16:creationId xmlns:a16="http://schemas.microsoft.com/office/drawing/2014/main" id="{F3686D38-58FB-4063-AE7A-1A0B16D6937C}"/>
              </a:ext>
            </a:extLst>
          </p:cNvPr>
          <p:cNvGrpSpPr/>
          <p:nvPr/>
        </p:nvGrpSpPr>
        <p:grpSpPr>
          <a:xfrm>
            <a:off x="1145045" y="3105806"/>
            <a:ext cx="4230374" cy="3939385"/>
            <a:chOff x="0" y="0"/>
            <a:chExt cx="1369159" cy="1274980"/>
          </a:xfrm>
        </p:grpSpPr>
        <p:sp>
          <p:nvSpPr>
            <p:cNvPr id="37" name="Freeform 17">
              <a:extLst>
                <a:ext uri="{FF2B5EF4-FFF2-40B4-BE49-F238E27FC236}">
                  <a16:creationId xmlns:a16="http://schemas.microsoft.com/office/drawing/2014/main" id="{CC25D2DE-26E4-4DA9-BA69-6101D59DE120}"/>
                </a:ext>
              </a:extLst>
            </p:cNvPr>
            <p:cNvSpPr/>
            <p:nvPr/>
          </p:nvSpPr>
          <p:spPr>
            <a:xfrm>
              <a:off x="0" y="0"/>
              <a:ext cx="1369159" cy="1274980"/>
            </a:xfrm>
            <a:custGeom>
              <a:avLst/>
              <a:gdLst/>
              <a:ahLst/>
              <a:cxnLst/>
              <a:rect l="l" t="t" r="r" b="b"/>
              <a:pathLst>
                <a:path w="1369159" h="1274980">
                  <a:moveTo>
                    <a:pt x="0" y="0"/>
                  </a:moveTo>
                  <a:lnTo>
                    <a:pt x="1369159" y="0"/>
                  </a:lnTo>
                  <a:lnTo>
                    <a:pt x="1369159" y="1274980"/>
                  </a:lnTo>
                  <a:lnTo>
                    <a:pt x="0" y="1274980"/>
                  </a:lnTo>
                  <a:close/>
                </a:path>
              </a:pathLst>
            </a:custGeom>
            <a:blipFill>
              <a:blip r:embed="rId7"/>
              <a:stretch>
                <a:fillRect l="-19841" r="-19841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292739">
            <a:off x="8985991" y="195693"/>
            <a:ext cx="1183750" cy="1175141"/>
          </a:xfrm>
          <a:custGeom>
            <a:avLst/>
            <a:gdLst/>
            <a:ahLst/>
            <a:cxnLst/>
            <a:rect l="l" t="t" r="r" b="b"/>
            <a:pathLst>
              <a:path w="1183750" h="1175141">
                <a:moveTo>
                  <a:pt x="0" y="0"/>
                </a:moveTo>
                <a:lnTo>
                  <a:pt x="1183751" y="0"/>
                </a:lnTo>
                <a:lnTo>
                  <a:pt x="1183751" y="1175141"/>
                </a:lnTo>
                <a:lnTo>
                  <a:pt x="0" y="1175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694352" y="-1694352"/>
            <a:ext cx="3980781" cy="3980781"/>
            <a:chOff x="0" y="0"/>
            <a:chExt cx="5307708" cy="530770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307708" cy="5307708"/>
            </a:xfrm>
            <a:custGeom>
              <a:avLst/>
              <a:gdLst/>
              <a:ahLst/>
              <a:cxnLst/>
              <a:rect l="l" t="t" r="r" b="b"/>
              <a:pathLst>
                <a:path w="5307708" h="5307708">
                  <a:moveTo>
                    <a:pt x="0" y="0"/>
                  </a:moveTo>
                  <a:lnTo>
                    <a:pt x="5307708" y="0"/>
                  </a:lnTo>
                  <a:lnTo>
                    <a:pt x="5307708" y="5307708"/>
                  </a:lnTo>
                  <a:lnTo>
                    <a:pt x="0" y="53077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24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6" name="Group 6"/>
            <p:cNvGrpSpPr/>
            <p:nvPr/>
          </p:nvGrpSpPr>
          <p:grpSpPr>
            <a:xfrm>
              <a:off x="757795" y="757795"/>
              <a:ext cx="3792117" cy="3792117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5E13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86"/>
                  </a:lnSpc>
                </a:pPr>
                <a:endParaRPr/>
              </a:p>
            </p:txBody>
          </p:sp>
        </p:grpSp>
      </p:grpSp>
      <p:sp>
        <p:nvSpPr>
          <p:cNvPr id="12" name="TextBox 12"/>
          <p:cNvSpPr txBox="1"/>
          <p:nvPr/>
        </p:nvSpPr>
        <p:spPr>
          <a:xfrm>
            <a:off x="352894" y="506218"/>
            <a:ext cx="752006" cy="398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7"/>
              </a:lnSpc>
              <a:spcBef>
                <a:spcPct val="0"/>
              </a:spcBef>
            </a:pPr>
            <a:r>
              <a:rPr lang="en-US" sz="2355" i="1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04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09800" y="342900"/>
            <a:ext cx="6069398" cy="3954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472"/>
              </a:lnSpc>
              <a:spcBef>
                <a:spcPct val="0"/>
              </a:spcBef>
            </a:pPr>
            <a:r>
              <a:rPr lang="en-US" sz="7480" dirty="0">
                <a:solidFill>
                  <a:srgbClr val="FF5E13"/>
                </a:solidFill>
                <a:latin typeface="Anton"/>
                <a:ea typeface="Anton"/>
                <a:cs typeface="Anton"/>
                <a:sym typeface="Anton"/>
              </a:rPr>
              <a:t>Methodology (CRISP-DM FRAMEWORK)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7E9EA18-1BA9-4CD7-B0BB-77D0C9AAE19C}"/>
              </a:ext>
            </a:extLst>
          </p:cNvPr>
          <p:cNvSpPr txBox="1"/>
          <p:nvPr/>
        </p:nvSpPr>
        <p:spPr>
          <a:xfrm>
            <a:off x="1104900" y="4762500"/>
            <a:ext cx="143637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Understanding  : Addressed BTS needs for insights on freight efficiency and emissions.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Understanding : Monthly ZIP files (dot1 CSVs) from BTS covering freight type, value, weight, and mode.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 : Combined, cleaned, and mapped 60+ CSVs (4 million records).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Modeling : Grouped by time, region, and transport mode for analysis.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: Generated visual insights across 8 core questions.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: Recommendations structured for strategic use by BTS.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4"/>
          <p:cNvSpPr/>
          <p:nvPr/>
        </p:nvSpPr>
        <p:spPr>
          <a:xfrm>
            <a:off x="-2514600" y="9048524"/>
            <a:ext cx="3588675" cy="3562576"/>
          </a:xfrm>
          <a:custGeom>
            <a:avLst/>
            <a:gdLst/>
            <a:ahLst/>
            <a:cxnLst/>
            <a:rect l="l" t="t" r="r" b="b"/>
            <a:pathLst>
              <a:path w="3588675" h="3562576">
                <a:moveTo>
                  <a:pt x="0" y="0"/>
                </a:moveTo>
                <a:lnTo>
                  <a:pt x="3588676" y="0"/>
                </a:lnTo>
                <a:lnTo>
                  <a:pt x="3588676" y="3562575"/>
                </a:lnTo>
                <a:lnTo>
                  <a:pt x="0" y="35625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7259300" y="-495964"/>
            <a:ext cx="3588675" cy="3562576"/>
          </a:xfrm>
          <a:custGeom>
            <a:avLst/>
            <a:gdLst/>
            <a:ahLst/>
            <a:cxnLst/>
            <a:rect l="l" t="t" r="r" b="b"/>
            <a:pathLst>
              <a:path w="3588675" h="3562576">
                <a:moveTo>
                  <a:pt x="0" y="0"/>
                </a:moveTo>
                <a:lnTo>
                  <a:pt x="3588675" y="0"/>
                </a:lnTo>
                <a:lnTo>
                  <a:pt x="3588675" y="3562576"/>
                </a:lnTo>
                <a:lnTo>
                  <a:pt x="0" y="35625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352894" y="506218"/>
            <a:ext cx="752006" cy="398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7"/>
              </a:lnSpc>
              <a:spcBef>
                <a:spcPct val="0"/>
              </a:spcBef>
            </a:pPr>
            <a:r>
              <a:rPr lang="en-US" sz="2355" i="1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05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527553" y="2036543"/>
            <a:ext cx="6069398" cy="1128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26"/>
              </a:lnSpc>
            </a:pPr>
            <a:r>
              <a:rPr lang="en-US" sz="7480" dirty="0">
                <a:solidFill>
                  <a:srgbClr val="FF5E13"/>
                </a:solidFill>
                <a:latin typeface="Anton"/>
                <a:ea typeface="Anton"/>
                <a:cs typeface="Anton"/>
                <a:sym typeface="Anton"/>
              </a:rPr>
              <a:t>Key Insights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134600" y="5200685"/>
            <a:ext cx="7531676" cy="30777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2961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U.S. exports consistently exceeded imports (2020–2024), peak in 2022 but declined sharply post 2022.</a:t>
            </a:r>
          </a:p>
          <a:p>
            <a:pPr marL="457200" indent="-457200" algn="l">
              <a:lnSpc>
                <a:spcPts val="2961"/>
              </a:lnSpc>
              <a:buFont typeface="Wingdings" panose="05000000000000000000" pitchFamily="2" charset="2"/>
              <a:buChar char="§"/>
            </a:pPr>
            <a:endParaRPr lang="en-US" sz="2800" dirty="0">
              <a:solidFill>
                <a:srgbClr val="27577D"/>
              </a:solidFill>
              <a:latin typeface="Times New Roman" panose="02020603050405020304" pitchFamily="18" charset="0"/>
              <a:ea typeface="Montserrat Medium"/>
              <a:cs typeface="Times New Roman" panose="02020603050405020304" pitchFamily="18" charset="0"/>
              <a:sym typeface="Montserrat Medium"/>
            </a:endParaRPr>
          </a:p>
          <a:p>
            <a:pPr marL="457200" indent="-457200" algn="l">
              <a:lnSpc>
                <a:spcPts val="2961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U.S. recorded nearly equal trade with Mexico ($17.19T) and Canada ($17.14T), reflecting balanced and deeply integrated supply chain relationships</a:t>
            </a:r>
            <a:r>
              <a:rPr lang="en-US" sz="2800" dirty="0"/>
              <a:t>.</a:t>
            </a:r>
            <a:endParaRPr lang="en-US" sz="2800" dirty="0">
              <a:solidFill>
                <a:srgbClr val="27577D"/>
              </a:solidFill>
              <a:latin typeface="Times New Roman" panose="02020603050405020304" pitchFamily="18" charset="0"/>
              <a:ea typeface="Montserrat Medium"/>
              <a:cs typeface="Times New Roman" panose="02020603050405020304" pitchFamily="18" charset="0"/>
              <a:sym typeface="Montserrat Medium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A8D609A-D07A-4EA6-A5C5-25E74F741748}"/>
              </a:ext>
            </a:extLst>
          </p:cNvPr>
          <p:cNvSpPr txBox="1"/>
          <p:nvPr/>
        </p:nvSpPr>
        <p:spPr>
          <a:xfrm>
            <a:off x="11887200" y="4000500"/>
            <a:ext cx="3505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Trade Trends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A9BD19-7367-45EC-9F7A-E70E007477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342900"/>
            <a:ext cx="6858000" cy="43888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A7DE57-9EAB-4E47-9A9C-77F0A7BD1A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5271267"/>
            <a:ext cx="6858000" cy="482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611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4"/>
          <p:cNvSpPr/>
          <p:nvPr/>
        </p:nvSpPr>
        <p:spPr>
          <a:xfrm>
            <a:off x="-2514600" y="9048524"/>
            <a:ext cx="3588675" cy="3562576"/>
          </a:xfrm>
          <a:custGeom>
            <a:avLst/>
            <a:gdLst/>
            <a:ahLst/>
            <a:cxnLst/>
            <a:rect l="l" t="t" r="r" b="b"/>
            <a:pathLst>
              <a:path w="3588675" h="3562576">
                <a:moveTo>
                  <a:pt x="0" y="0"/>
                </a:moveTo>
                <a:lnTo>
                  <a:pt x="3588676" y="0"/>
                </a:lnTo>
                <a:lnTo>
                  <a:pt x="3588676" y="3562575"/>
                </a:lnTo>
                <a:lnTo>
                  <a:pt x="0" y="35625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7259300" y="-495964"/>
            <a:ext cx="3588675" cy="3562576"/>
          </a:xfrm>
          <a:custGeom>
            <a:avLst/>
            <a:gdLst/>
            <a:ahLst/>
            <a:cxnLst/>
            <a:rect l="l" t="t" r="r" b="b"/>
            <a:pathLst>
              <a:path w="3588675" h="3562576">
                <a:moveTo>
                  <a:pt x="0" y="0"/>
                </a:moveTo>
                <a:lnTo>
                  <a:pt x="3588675" y="0"/>
                </a:lnTo>
                <a:lnTo>
                  <a:pt x="3588675" y="3562576"/>
                </a:lnTo>
                <a:lnTo>
                  <a:pt x="0" y="35625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352894" y="506218"/>
            <a:ext cx="752006" cy="398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7"/>
              </a:lnSpc>
              <a:spcBef>
                <a:spcPct val="0"/>
              </a:spcBef>
            </a:pPr>
            <a:r>
              <a:rPr lang="en-US" sz="2355" i="1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05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471878" y="3848100"/>
            <a:ext cx="7531676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2961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Trade volumes were highest in January, March, and February, indicating strong post-holiday economic activity and inventory replenishment cycles.</a:t>
            </a:r>
            <a:endParaRPr lang="en-US" sz="2800" dirty="0">
              <a:solidFill>
                <a:srgbClr val="27577D"/>
              </a:solidFill>
              <a:latin typeface="Times New Roman" panose="02020603050405020304" pitchFamily="18" charset="0"/>
              <a:ea typeface="Montserrat Medium"/>
              <a:cs typeface="Times New Roman" panose="02020603050405020304" pitchFamily="18" charset="0"/>
              <a:sym typeface="Montserrat Medium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A8D609A-D07A-4EA6-A5C5-25E74F741748}"/>
              </a:ext>
            </a:extLst>
          </p:cNvPr>
          <p:cNvSpPr txBox="1"/>
          <p:nvPr/>
        </p:nvSpPr>
        <p:spPr>
          <a:xfrm>
            <a:off x="10972800" y="1562100"/>
            <a:ext cx="5715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Seasonal Trade  Patterns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C5A2A5-74DA-460C-B92B-B66F891CBA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3238500"/>
            <a:ext cx="9257354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602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694352" y="-1694352"/>
            <a:ext cx="3980781" cy="3980781"/>
            <a:chOff x="0" y="0"/>
            <a:chExt cx="5307708" cy="53077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07708" cy="5307708"/>
            </a:xfrm>
            <a:custGeom>
              <a:avLst/>
              <a:gdLst/>
              <a:ahLst/>
              <a:cxnLst/>
              <a:rect l="l" t="t" r="r" b="b"/>
              <a:pathLst>
                <a:path w="5307708" h="5307708">
                  <a:moveTo>
                    <a:pt x="0" y="0"/>
                  </a:moveTo>
                  <a:lnTo>
                    <a:pt x="5307708" y="0"/>
                  </a:lnTo>
                  <a:lnTo>
                    <a:pt x="5307708" y="5307708"/>
                  </a:lnTo>
                  <a:lnTo>
                    <a:pt x="0" y="53077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4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757795" y="757795"/>
              <a:ext cx="3792117" cy="3792117"/>
              <a:chOff x="0" y="0"/>
              <a:chExt cx="812800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5E13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86"/>
                  </a:lnSpc>
                </a:pPr>
                <a:endParaRPr/>
              </a:p>
            </p:txBody>
          </p:sp>
        </p:grpSp>
      </p:grpSp>
      <p:sp>
        <p:nvSpPr>
          <p:cNvPr id="18" name="Freeform 18"/>
          <p:cNvSpPr/>
          <p:nvPr/>
        </p:nvSpPr>
        <p:spPr>
          <a:xfrm rot="617472">
            <a:off x="6786254" y="650130"/>
            <a:ext cx="1183750" cy="1175141"/>
          </a:xfrm>
          <a:custGeom>
            <a:avLst/>
            <a:gdLst/>
            <a:ahLst/>
            <a:cxnLst/>
            <a:rect l="l" t="t" r="r" b="b"/>
            <a:pathLst>
              <a:path w="1183750" h="1175141">
                <a:moveTo>
                  <a:pt x="0" y="0"/>
                </a:moveTo>
                <a:lnTo>
                  <a:pt x="1183751" y="0"/>
                </a:lnTo>
                <a:lnTo>
                  <a:pt x="1183751" y="1175141"/>
                </a:lnTo>
                <a:lnTo>
                  <a:pt x="0" y="11751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352894" y="506218"/>
            <a:ext cx="752006" cy="398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7"/>
              </a:lnSpc>
              <a:spcBef>
                <a:spcPct val="0"/>
              </a:spcBef>
            </a:pPr>
            <a:r>
              <a:rPr lang="en-US" sz="2355" i="1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06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2456465"/>
            <a:ext cx="7962900" cy="966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26"/>
              </a:lnSpc>
            </a:pPr>
            <a:r>
              <a:rPr lang="en-US" sz="4000" dirty="0">
                <a:solidFill>
                  <a:srgbClr val="002060"/>
                </a:solidFill>
                <a:latin typeface="Times New Roman" panose="02020603050405020304" pitchFamily="18" charset="0"/>
                <a:ea typeface="Anton"/>
                <a:cs typeface="Times New Roman" panose="02020603050405020304" pitchFamily="18" charset="0"/>
                <a:sym typeface="Anton"/>
              </a:rPr>
              <a:t>Transport Modes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AA74063-5C4E-4248-BF3D-1DBBFA6D16A5}"/>
              </a:ext>
            </a:extLst>
          </p:cNvPr>
          <p:cNvSpPr txBox="1"/>
          <p:nvPr/>
        </p:nvSpPr>
        <p:spPr>
          <a:xfrm>
            <a:off x="533400" y="4229100"/>
            <a:ext cx="585260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Trucks handled over $21.4T in trade, dominating all modes.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Vessel </a:t>
            </a:r>
            <a:r>
              <a:rPr lang="en-US" sz="2800" dirty="0"/>
              <a:t>carried the most by weight, indicating low-value bulk goods.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512E38-8370-4C67-A50A-8D0D185E74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4098" y="266700"/>
            <a:ext cx="7892902" cy="46796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C8A9C6F-A022-468A-8A3E-404ECF80020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4098" y="5431060"/>
            <a:ext cx="7892902" cy="466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307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694352" y="-1694352"/>
            <a:ext cx="3980781" cy="3980781"/>
            <a:chOff x="0" y="0"/>
            <a:chExt cx="5307708" cy="53077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07708" cy="5307708"/>
            </a:xfrm>
            <a:custGeom>
              <a:avLst/>
              <a:gdLst/>
              <a:ahLst/>
              <a:cxnLst/>
              <a:rect l="l" t="t" r="r" b="b"/>
              <a:pathLst>
                <a:path w="5307708" h="5307708">
                  <a:moveTo>
                    <a:pt x="0" y="0"/>
                  </a:moveTo>
                  <a:lnTo>
                    <a:pt x="5307708" y="0"/>
                  </a:lnTo>
                  <a:lnTo>
                    <a:pt x="5307708" y="5307708"/>
                  </a:lnTo>
                  <a:lnTo>
                    <a:pt x="0" y="53077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4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757795" y="757795"/>
              <a:ext cx="3792117" cy="3792117"/>
              <a:chOff x="0" y="0"/>
              <a:chExt cx="812800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5E13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86"/>
                  </a:lnSpc>
                </a:pPr>
                <a:endParaRPr/>
              </a:p>
            </p:txBody>
          </p:sp>
        </p:grpSp>
      </p:grpSp>
      <p:sp>
        <p:nvSpPr>
          <p:cNvPr id="14" name="Freeform 14"/>
          <p:cNvSpPr/>
          <p:nvPr/>
        </p:nvSpPr>
        <p:spPr>
          <a:xfrm rot="-1431127">
            <a:off x="8669068" y="-1344952"/>
            <a:ext cx="2186545" cy="2170643"/>
          </a:xfrm>
          <a:custGeom>
            <a:avLst/>
            <a:gdLst/>
            <a:ahLst/>
            <a:cxnLst/>
            <a:rect l="l" t="t" r="r" b="b"/>
            <a:pathLst>
              <a:path w="2186545" h="2170643">
                <a:moveTo>
                  <a:pt x="0" y="0"/>
                </a:moveTo>
                <a:lnTo>
                  <a:pt x="2186545" y="0"/>
                </a:lnTo>
                <a:lnTo>
                  <a:pt x="2186545" y="2170643"/>
                </a:lnTo>
                <a:lnTo>
                  <a:pt x="0" y="21706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352894" y="506218"/>
            <a:ext cx="752006" cy="398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7"/>
              </a:lnSpc>
              <a:spcBef>
                <a:spcPct val="0"/>
              </a:spcBef>
            </a:pPr>
            <a:r>
              <a:rPr lang="en-US" sz="2355" i="1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07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71668" y="1790700"/>
            <a:ext cx="7051895" cy="966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26"/>
              </a:lnSpc>
            </a:pPr>
            <a:r>
              <a:rPr lang="en-US" sz="4000" dirty="0">
                <a:solidFill>
                  <a:srgbClr val="002060"/>
                </a:solidFill>
                <a:latin typeface="Times New Roman" panose="02020603050405020304" pitchFamily="18" charset="0"/>
                <a:ea typeface="Anton"/>
                <a:cs typeface="Times New Roman" panose="02020603050405020304" pitchFamily="18" charset="0"/>
                <a:sym typeface="Anton"/>
              </a:rPr>
              <a:t>Regional Overview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583225" y="1104900"/>
            <a:ext cx="7247575" cy="346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2961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Texas emerged as the leading trade state ($7.46T), followed by Michigan and California highlighting regional trade hubs.</a:t>
            </a:r>
          </a:p>
          <a:p>
            <a:pPr marL="457200" indent="-457200" algn="l">
              <a:lnSpc>
                <a:spcPts val="2961"/>
              </a:lnSpc>
              <a:buFont typeface="Wingdings" panose="05000000000000000000" pitchFamily="2" charset="2"/>
              <a:buChar char="§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lnSpc>
                <a:spcPts val="2961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Oklahoma and Delaware show high freight charges each exceeding 3.5% suggesting potential inefficiencies.</a:t>
            </a:r>
          </a:p>
          <a:p>
            <a:pPr marL="457200" indent="-457200" algn="l">
              <a:lnSpc>
                <a:spcPts val="2961"/>
              </a:lnSpc>
              <a:buFont typeface="Wingdings" panose="05000000000000000000" pitchFamily="2" charset="2"/>
              <a:buChar char="§"/>
            </a:pPr>
            <a:endParaRPr lang="en-US" sz="2800" b="1" dirty="0">
              <a:solidFill>
                <a:srgbClr val="27577D"/>
              </a:solidFill>
              <a:latin typeface="Times New Roman" panose="02020603050405020304" pitchFamily="18" charset="0"/>
              <a:ea typeface="Montserrat Medium"/>
              <a:cs typeface="Times New Roman" panose="02020603050405020304" pitchFamily="18" charset="0"/>
              <a:sym typeface="Montserrat Medium"/>
            </a:endParaRPr>
          </a:p>
          <a:p>
            <a:pPr marL="457200" indent="-457200" algn="l">
              <a:lnSpc>
                <a:spcPts val="2961"/>
              </a:lnSpc>
              <a:buFont typeface="Wingdings" panose="05000000000000000000" pitchFamily="2" charset="2"/>
              <a:buChar char="§"/>
            </a:pPr>
            <a:endParaRPr lang="en-US" sz="2800" b="1" dirty="0">
              <a:solidFill>
                <a:srgbClr val="27577D"/>
              </a:solidFill>
              <a:latin typeface="Times New Roman" panose="02020603050405020304" pitchFamily="18" charset="0"/>
              <a:ea typeface="Montserrat Medium"/>
              <a:cs typeface="Times New Roman" panose="02020603050405020304" pitchFamily="18" charset="0"/>
              <a:sym typeface="Montserrat Medium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C39C55C-4D72-4BA7-87C0-C4983B76BF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" y="4984491"/>
            <a:ext cx="8153401" cy="50334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274D8FA-0667-4478-8842-63B6C85A02D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9951" y="4984491"/>
            <a:ext cx="8481065" cy="50334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694352" y="-1694352"/>
            <a:ext cx="3980781" cy="3980781"/>
            <a:chOff x="0" y="0"/>
            <a:chExt cx="5307708" cy="53077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07708" cy="5307708"/>
            </a:xfrm>
            <a:custGeom>
              <a:avLst/>
              <a:gdLst/>
              <a:ahLst/>
              <a:cxnLst/>
              <a:rect l="l" t="t" r="r" b="b"/>
              <a:pathLst>
                <a:path w="5307708" h="5307708">
                  <a:moveTo>
                    <a:pt x="0" y="0"/>
                  </a:moveTo>
                  <a:lnTo>
                    <a:pt x="5307708" y="0"/>
                  </a:lnTo>
                  <a:lnTo>
                    <a:pt x="5307708" y="5307708"/>
                  </a:lnTo>
                  <a:lnTo>
                    <a:pt x="0" y="53077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4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757795" y="757795"/>
              <a:ext cx="3792117" cy="3792117"/>
              <a:chOff x="0" y="0"/>
              <a:chExt cx="812800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5E13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86"/>
                  </a:lnSpc>
                </a:pPr>
                <a:endParaRPr/>
              </a:p>
            </p:txBody>
          </p:sp>
        </p:grpSp>
      </p:grpSp>
      <p:sp>
        <p:nvSpPr>
          <p:cNvPr id="18" name="Freeform 18"/>
          <p:cNvSpPr/>
          <p:nvPr/>
        </p:nvSpPr>
        <p:spPr>
          <a:xfrm rot="617472">
            <a:off x="6786254" y="650130"/>
            <a:ext cx="1183750" cy="1175141"/>
          </a:xfrm>
          <a:custGeom>
            <a:avLst/>
            <a:gdLst/>
            <a:ahLst/>
            <a:cxnLst/>
            <a:rect l="l" t="t" r="r" b="b"/>
            <a:pathLst>
              <a:path w="1183750" h="1175141">
                <a:moveTo>
                  <a:pt x="0" y="0"/>
                </a:moveTo>
                <a:lnTo>
                  <a:pt x="1183751" y="0"/>
                </a:lnTo>
                <a:lnTo>
                  <a:pt x="1183751" y="1175141"/>
                </a:lnTo>
                <a:lnTo>
                  <a:pt x="0" y="11751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1431127">
            <a:off x="7314719" y="9607700"/>
            <a:ext cx="2186545" cy="2170643"/>
          </a:xfrm>
          <a:custGeom>
            <a:avLst/>
            <a:gdLst/>
            <a:ahLst/>
            <a:cxnLst/>
            <a:rect l="l" t="t" r="r" b="b"/>
            <a:pathLst>
              <a:path w="2186545" h="2170643">
                <a:moveTo>
                  <a:pt x="0" y="0"/>
                </a:moveTo>
                <a:lnTo>
                  <a:pt x="2186545" y="0"/>
                </a:lnTo>
                <a:lnTo>
                  <a:pt x="2186545" y="2170643"/>
                </a:lnTo>
                <a:lnTo>
                  <a:pt x="0" y="21706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352894" y="506218"/>
            <a:ext cx="752006" cy="398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7"/>
              </a:lnSpc>
              <a:spcBef>
                <a:spcPct val="0"/>
              </a:spcBef>
            </a:pPr>
            <a:r>
              <a:rPr lang="en-US" sz="2355" i="1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06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52894" y="4686300"/>
            <a:ext cx="6807947" cy="1522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l">
              <a:lnSpc>
                <a:spcPts val="2961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Trucks contributed the highest CO₂ emissions, followed by rail and vessel. Despite lower emissions, air transport remained minor in volume and impact</a:t>
            </a:r>
            <a:r>
              <a:rPr lang="en-US" sz="2400" dirty="0"/>
              <a:t>.</a:t>
            </a:r>
            <a:endParaRPr lang="en-US" sz="2278" b="1" dirty="0">
              <a:solidFill>
                <a:srgbClr val="27577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5E65CB-7CD2-4200-806F-D16C4E3C0A1E}"/>
              </a:ext>
            </a:extLst>
          </p:cNvPr>
          <p:cNvSpPr txBox="1"/>
          <p:nvPr/>
        </p:nvSpPr>
        <p:spPr>
          <a:xfrm>
            <a:off x="533400" y="2552700"/>
            <a:ext cx="7772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Impact By Transport Mode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67B4AC-628F-4C06-97CF-ACD4956656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200" y="2473446"/>
            <a:ext cx="9148769" cy="54132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4" r="-7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694352" y="-1694352"/>
            <a:ext cx="3980781" cy="3980781"/>
            <a:chOff x="0" y="0"/>
            <a:chExt cx="5307708" cy="530770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07708" cy="5307708"/>
            </a:xfrm>
            <a:custGeom>
              <a:avLst/>
              <a:gdLst/>
              <a:ahLst/>
              <a:cxnLst/>
              <a:rect l="l" t="t" r="r" b="b"/>
              <a:pathLst>
                <a:path w="5307708" h="5307708">
                  <a:moveTo>
                    <a:pt x="0" y="0"/>
                  </a:moveTo>
                  <a:lnTo>
                    <a:pt x="5307708" y="0"/>
                  </a:lnTo>
                  <a:lnTo>
                    <a:pt x="5307708" y="5307708"/>
                  </a:lnTo>
                  <a:lnTo>
                    <a:pt x="0" y="53077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4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5" name="Group 5"/>
            <p:cNvGrpSpPr/>
            <p:nvPr/>
          </p:nvGrpSpPr>
          <p:grpSpPr>
            <a:xfrm>
              <a:off x="757795" y="757795"/>
              <a:ext cx="3792117" cy="3792117"/>
              <a:chOff x="0" y="0"/>
              <a:chExt cx="812800" cy="8128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5E13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86"/>
                  </a:lnSpc>
                </a:pPr>
                <a:endParaRPr/>
              </a:p>
            </p:txBody>
          </p:sp>
        </p:grpSp>
      </p:grpSp>
      <p:grpSp>
        <p:nvGrpSpPr>
          <p:cNvPr id="8" name="Group 8"/>
          <p:cNvGrpSpPr/>
          <p:nvPr/>
        </p:nvGrpSpPr>
        <p:grpSpPr>
          <a:xfrm>
            <a:off x="7881170" y="0"/>
            <a:ext cx="10706887" cy="10287000"/>
            <a:chOff x="0" y="0"/>
            <a:chExt cx="2819921" cy="270933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19921" cy="2709333"/>
            </a:xfrm>
            <a:custGeom>
              <a:avLst/>
              <a:gdLst/>
              <a:ahLst/>
              <a:cxnLst/>
              <a:rect l="l" t="t" r="r" b="b"/>
              <a:pathLst>
                <a:path w="2819921" h="2709333">
                  <a:moveTo>
                    <a:pt x="0" y="0"/>
                  </a:moveTo>
                  <a:lnTo>
                    <a:pt x="2819921" y="0"/>
                  </a:lnTo>
                  <a:lnTo>
                    <a:pt x="281992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5E1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819921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86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-596868">
            <a:off x="15425426" y="-1300863"/>
            <a:ext cx="2173829" cy="2158020"/>
          </a:xfrm>
          <a:custGeom>
            <a:avLst/>
            <a:gdLst/>
            <a:ahLst/>
            <a:cxnLst/>
            <a:rect l="l" t="t" r="r" b="b"/>
            <a:pathLst>
              <a:path w="2173829" h="2158020">
                <a:moveTo>
                  <a:pt x="0" y="0"/>
                </a:moveTo>
                <a:lnTo>
                  <a:pt x="2173829" y="0"/>
                </a:lnTo>
                <a:lnTo>
                  <a:pt x="2173829" y="2158020"/>
                </a:lnTo>
                <a:lnTo>
                  <a:pt x="0" y="21580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596868">
            <a:off x="6800112" y="9207990"/>
            <a:ext cx="2173829" cy="2158020"/>
          </a:xfrm>
          <a:custGeom>
            <a:avLst/>
            <a:gdLst/>
            <a:ahLst/>
            <a:cxnLst/>
            <a:rect l="l" t="t" r="r" b="b"/>
            <a:pathLst>
              <a:path w="2173829" h="2158020">
                <a:moveTo>
                  <a:pt x="0" y="0"/>
                </a:moveTo>
                <a:lnTo>
                  <a:pt x="2173829" y="0"/>
                </a:lnTo>
                <a:lnTo>
                  <a:pt x="2173829" y="2158020"/>
                </a:lnTo>
                <a:lnTo>
                  <a:pt x="0" y="21580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352894" y="506218"/>
            <a:ext cx="752006" cy="398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7"/>
              </a:lnSpc>
              <a:spcBef>
                <a:spcPct val="0"/>
              </a:spcBef>
            </a:pPr>
            <a:r>
              <a:rPr lang="en-US" sz="2355" i="1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09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147386" y="2218114"/>
            <a:ext cx="7454814" cy="1128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826"/>
              </a:lnSpc>
            </a:pPr>
            <a:r>
              <a:rPr lang="en-US" sz="7480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Recommendations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85119E-24D9-4A95-847D-AACDA2BB8F54}"/>
              </a:ext>
            </a:extLst>
          </p:cNvPr>
          <p:cNvSpPr txBox="1"/>
          <p:nvPr/>
        </p:nvSpPr>
        <p:spPr>
          <a:xfrm>
            <a:off x="10058400" y="4152900"/>
            <a:ext cx="7954877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 trucking routes and border processing in high-cost states</a:t>
            </a:r>
            <a:r>
              <a:rPr lang="en-US" dirty="0"/>
              <a:t>..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Encourage modal shifts to lower-emission transport (rail, vessel) for long hauls.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 peak months to support infrastructure planning and staffing.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292739">
            <a:off x="6786254" y="650130"/>
            <a:ext cx="1183750" cy="1175141"/>
          </a:xfrm>
          <a:custGeom>
            <a:avLst/>
            <a:gdLst/>
            <a:ahLst/>
            <a:cxnLst/>
            <a:rect l="l" t="t" r="r" b="b"/>
            <a:pathLst>
              <a:path w="1183750" h="1175141">
                <a:moveTo>
                  <a:pt x="0" y="0"/>
                </a:moveTo>
                <a:lnTo>
                  <a:pt x="1183751" y="0"/>
                </a:lnTo>
                <a:lnTo>
                  <a:pt x="1183751" y="1175141"/>
                </a:lnTo>
                <a:lnTo>
                  <a:pt x="0" y="1175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3236403">
            <a:off x="2587501" y="8296322"/>
            <a:ext cx="2199241" cy="2183247"/>
          </a:xfrm>
          <a:custGeom>
            <a:avLst/>
            <a:gdLst/>
            <a:ahLst/>
            <a:cxnLst/>
            <a:rect l="l" t="t" r="r" b="b"/>
            <a:pathLst>
              <a:path w="2199241" h="2183247">
                <a:moveTo>
                  <a:pt x="0" y="0"/>
                </a:moveTo>
                <a:lnTo>
                  <a:pt x="2199241" y="0"/>
                </a:lnTo>
                <a:lnTo>
                  <a:pt x="2199241" y="2183247"/>
                </a:lnTo>
                <a:lnTo>
                  <a:pt x="0" y="2183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694352" y="-1694352"/>
            <a:ext cx="3980781" cy="3980781"/>
            <a:chOff x="0" y="0"/>
            <a:chExt cx="5307708" cy="530770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307708" cy="5307708"/>
            </a:xfrm>
            <a:custGeom>
              <a:avLst/>
              <a:gdLst/>
              <a:ahLst/>
              <a:cxnLst/>
              <a:rect l="l" t="t" r="r" b="b"/>
              <a:pathLst>
                <a:path w="5307708" h="5307708">
                  <a:moveTo>
                    <a:pt x="0" y="0"/>
                  </a:moveTo>
                  <a:lnTo>
                    <a:pt x="5307708" y="0"/>
                  </a:lnTo>
                  <a:lnTo>
                    <a:pt x="5307708" y="5307708"/>
                  </a:lnTo>
                  <a:lnTo>
                    <a:pt x="0" y="53077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24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6" name="Group 6"/>
            <p:cNvGrpSpPr/>
            <p:nvPr/>
          </p:nvGrpSpPr>
          <p:grpSpPr>
            <a:xfrm>
              <a:off x="757795" y="757795"/>
              <a:ext cx="3792117" cy="3792117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5E13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86"/>
                  </a:lnSpc>
                </a:pPr>
                <a:endParaRPr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9464117" y="893255"/>
            <a:ext cx="7795183" cy="7738491"/>
            <a:chOff x="0" y="0"/>
            <a:chExt cx="10393577" cy="1031798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393577" cy="10317987"/>
            </a:xfrm>
            <a:custGeom>
              <a:avLst/>
              <a:gdLst/>
              <a:ahLst/>
              <a:cxnLst/>
              <a:rect l="l" t="t" r="r" b="b"/>
              <a:pathLst>
                <a:path w="10393577" h="10317987">
                  <a:moveTo>
                    <a:pt x="0" y="0"/>
                  </a:moveTo>
                  <a:lnTo>
                    <a:pt x="10393577" y="0"/>
                  </a:lnTo>
                  <a:lnTo>
                    <a:pt x="10393577" y="10317987"/>
                  </a:lnTo>
                  <a:lnTo>
                    <a:pt x="0" y="10317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 flipH="1" flipV="1">
              <a:off x="2590031" y="2227058"/>
              <a:ext cx="5213516" cy="5863872"/>
            </a:xfrm>
            <a:custGeom>
              <a:avLst/>
              <a:gdLst/>
              <a:ahLst/>
              <a:cxnLst/>
              <a:rect l="l" t="t" r="r" b="b"/>
              <a:pathLst>
                <a:path w="5213516" h="5863872">
                  <a:moveTo>
                    <a:pt x="5213515" y="5863872"/>
                  </a:moveTo>
                  <a:lnTo>
                    <a:pt x="0" y="5863872"/>
                  </a:lnTo>
                  <a:lnTo>
                    <a:pt x="0" y="0"/>
                  </a:lnTo>
                  <a:lnTo>
                    <a:pt x="5213515" y="0"/>
                  </a:lnTo>
                  <a:lnTo>
                    <a:pt x="5213515" y="5863872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352894" y="506218"/>
            <a:ext cx="752006" cy="398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7"/>
              </a:lnSpc>
              <a:spcBef>
                <a:spcPct val="0"/>
              </a:spcBef>
            </a:pPr>
            <a:r>
              <a:rPr lang="en-US" sz="2355" i="1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04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04900" y="2864605"/>
            <a:ext cx="6069398" cy="1266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72"/>
              </a:lnSpc>
              <a:spcBef>
                <a:spcPct val="0"/>
              </a:spcBef>
            </a:pPr>
            <a:r>
              <a:rPr lang="en-US" sz="7480" dirty="0">
                <a:solidFill>
                  <a:srgbClr val="FF5E13"/>
                </a:solidFill>
                <a:latin typeface="Anton"/>
                <a:ea typeface="Anton"/>
                <a:cs typeface="Anton"/>
                <a:sym typeface="Anton"/>
              </a:rPr>
              <a:t>Tools Used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4673587"/>
            <a:ext cx="6807947" cy="2515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(Pandas, Matplotlib, Seaborn)</a:t>
            </a:r>
          </a:p>
          <a:p>
            <a:pPr algn="l"/>
            <a:endParaRPr lang="en-US" sz="28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US" sz="28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endParaRPr lang="en-US" sz="28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8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(for version control &amp; collaboration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 algn="l">
              <a:lnSpc>
                <a:spcPts val="2961"/>
              </a:lnSpc>
              <a:buFont typeface="Arial" panose="020B0604020202020204" pitchFamily="34" charset="0"/>
              <a:buChar char="•"/>
            </a:pPr>
            <a:endParaRPr lang="en-US" sz="2278" b="1" dirty="0">
              <a:solidFill>
                <a:srgbClr val="27577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-135638" y="9258300"/>
            <a:ext cx="18559277" cy="1204904"/>
            <a:chOff x="0" y="0"/>
            <a:chExt cx="4888040" cy="31734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88040" cy="317341"/>
            </a:xfrm>
            <a:custGeom>
              <a:avLst/>
              <a:gdLst/>
              <a:ahLst/>
              <a:cxnLst/>
              <a:rect l="l" t="t" r="r" b="b"/>
              <a:pathLst>
                <a:path w="4888040" h="317341">
                  <a:moveTo>
                    <a:pt x="0" y="0"/>
                  </a:moveTo>
                  <a:lnTo>
                    <a:pt x="4888040" y="0"/>
                  </a:lnTo>
                  <a:lnTo>
                    <a:pt x="4888040" y="317341"/>
                  </a:lnTo>
                  <a:lnTo>
                    <a:pt x="0" y="317341"/>
                  </a:lnTo>
                  <a:close/>
                </a:path>
              </a:pathLst>
            </a:custGeom>
            <a:solidFill>
              <a:srgbClr val="FF5E13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4888040" cy="364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86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617450" y="-1020753"/>
            <a:ext cx="12603491" cy="12328506"/>
          </a:xfrm>
          <a:custGeom>
            <a:avLst/>
            <a:gdLst/>
            <a:ahLst/>
            <a:cxnLst/>
            <a:rect l="l" t="t" r="r" b="b"/>
            <a:pathLst>
              <a:path w="12603491" h="12328506">
                <a:moveTo>
                  <a:pt x="0" y="0"/>
                </a:moveTo>
                <a:lnTo>
                  <a:pt x="12603491" y="0"/>
                </a:lnTo>
                <a:lnTo>
                  <a:pt x="12603491" y="12328506"/>
                </a:lnTo>
                <a:lnTo>
                  <a:pt x="0" y="123285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539603" y="1028700"/>
            <a:ext cx="845590" cy="624012"/>
          </a:xfrm>
          <a:custGeom>
            <a:avLst/>
            <a:gdLst/>
            <a:ahLst/>
            <a:cxnLst/>
            <a:rect l="l" t="t" r="r" b="b"/>
            <a:pathLst>
              <a:path w="845590" h="624012">
                <a:moveTo>
                  <a:pt x="0" y="0"/>
                </a:moveTo>
                <a:lnTo>
                  <a:pt x="845590" y="0"/>
                </a:lnTo>
                <a:lnTo>
                  <a:pt x="845590" y="624012"/>
                </a:lnTo>
                <a:lnTo>
                  <a:pt x="0" y="624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1171903" y="3116924"/>
            <a:ext cx="6087397" cy="22161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311"/>
              </a:lnSpc>
              <a:spcBef>
                <a:spcPct val="0"/>
              </a:spcBef>
            </a:pPr>
            <a:r>
              <a:rPr lang="en-US" sz="7840" dirty="0">
                <a:solidFill>
                  <a:srgbClr val="27577D"/>
                </a:solidFill>
                <a:latin typeface="Anton"/>
                <a:ea typeface="Anton"/>
                <a:cs typeface="Anton"/>
                <a:sym typeface="Anton"/>
              </a:rPr>
              <a:t>Conclusion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81000" y="3924300"/>
            <a:ext cx="7048500" cy="35466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52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highlighted critical trends and inefficiencies in U.S. transborder trade with Canada and Mexico. It empowers BTS with data-backed insights to optimize freight systems and improve sustainability. The findings serve as a foundation for strategic planning, infrastructure investment, and greener transportation practices.</a:t>
            </a:r>
            <a:endParaRPr lang="en-US" sz="2800" b="1" dirty="0">
              <a:solidFill>
                <a:srgbClr val="27577D"/>
              </a:solidFill>
              <a:latin typeface="Times New Roman" panose="02020603050405020304" pitchFamily="18" charset="0"/>
              <a:ea typeface="Montserrat Medium"/>
              <a:cs typeface="Times New Roman" panose="02020603050405020304" pitchFamily="18" charset="0"/>
              <a:sym typeface="Montserrat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471</Words>
  <Application>Microsoft Office PowerPoint</Application>
  <PresentationFormat>Custom</PresentationFormat>
  <Paragraphs>64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Calibri</vt:lpstr>
      <vt:lpstr>Montserrat Medium</vt:lpstr>
      <vt:lpstr>Wingdings</vt:lpstr>
      <vt:lpstr>Montserrat Italics</vt:lpstr>
      <vt:lpstr>Anton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Orange and White Modern Logistic Presentation</dc:title>
  <dc:creator>Nana Ekua</dc:creator>
  <cp:lastModifiedBy>Barbara Addo</cp:lastModifiedBy>
  <cp:revision>34</cp:revision>
  <dcterms:created xsi:type="dcterms:W3CDTF">2006-08-16T00:00:00Z</dcterms:created>
  <dcterms:modified xsi:type="dcterms:W3CDTF">2025-07-31T22:56:32Z</dcterms:modified>
  <dc:identifier>DAGt47Wpg9I</dc:identifier>
</cp:coreProperties>
</file>